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37" autoAdjust="0"/>
  </p:normalViewPr>
  <p:slideViewPr>
    <p:cSldViewPr snapToGrid="0">
      <p:cViewPr varScale="1">
        <p:scale>
          <a:sx n="69" d="100"/>
          <a:sy n="69" d="100"/>
        </p:scale>
        <p:origin x="696" y="78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B1D4-F1A0-4A39-93DB-9ADA0AFE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88D13-9A1E-4DF8-8B53-DD268CCA4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EBBEE-476E-483B-B00C-9F5F5741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12F93-FF35-4F6B-9666-3C9644DF54D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57851-C543-495C-B0BD-D9B3D18A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5BBDF-1504-4FF7-A345-CB94DAE8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96A19-B0D1-46BB-B985-BF7A0F135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455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0620-F9CD-46D7-8D2D-1BFAC0FD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38307-4867-4627-BB51-09A1318C7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A184D-0FB8-42D3-BBDE-AFA7887D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12F93-FF35-4F6B-9666-3C9644DF54D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196A8-AE2E-4F85-8C12-1863C7F8E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138B2-6D89-4270-A295-9D303846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96A19-B0D1-46BB-B985-BF7A0F135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4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CD43F-D1C4-4A45-98E7-6E3E08C4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0A0E5-8787-47EA-8983-DEAAB22FF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884A3-581C-4E37-B325-B3CFAEE8B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12F93-FF35-4F6B-9666-3C9644DF54D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DE1DF-70FD-4D2C-B68D-E1E9553B8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43917-D753-47CB-8B17-5EFD94A0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96A19-B0D1-46BB-B985-BF7A0F135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666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55A4C-6982-42B6-BFAE-9D18C6D1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C1443-154E-465D-A214-97A0BCDBB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B6EC5-2FEB-44AE-8352-53719C870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74B2A-60E5-4A8C-B44B-690F9C86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12F93-FF35-4F6B-9666-3C9644DF54D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AEE02-4B0A-42B3-A28C-DBED481A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5E8D2-FD07-4E58-8664-54549E6B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96A19-B0D1-46BB-B985-BF7A0F135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787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417CA-1842-4661-9F5F-3D2E4752E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732B1-354B-45BD-B121-56FE65AB0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B4B67-E6F8-407D-8A43-C7400107B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DBFA36-E0C3-4081-98CE-40047EDCA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38334-C7A2-41D1-A98B-F987A57A5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82DE75-905B-4B72-9433-D442BED3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12F93-FF35-4F6B-9666-3C9644DF54D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56A2AB-9D68-4B23-81F7-CB230FD53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A1309-0611-42E4-BA80-A959899C7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96A19-B0D1-46BB-B985-BF7A0F135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95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0229-3A0A-45D3-8118-D3DE1F570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86689-B8BF-49D1-A5BA-3DF638041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12F93-FF35-4F6B-9666-3C9644DF54D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09568-FFD9-4990-B19D-78EDC4E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A35E5-8F36-4BC6-9751-A99874F8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96A19-B0D1-46BB-B985-BF7A0F135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68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717A10-28B7-4EBE-9053-A09B955E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12F93-FF35-4F6B-9666-3C9644DF54D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14AFB-C359-4EA5-B413-E0B5B0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7095D-B13A-4E98-B98B-EA78A8F8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96A19-B0D1-46BB-B985-BF7A0F135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898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764F2-6633-491A-9326-554407DD1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8CBE5-B3B1-4B7C-AA85-683AAC9C0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84972-9BCA-44A6-A67F-CF9ECBDC7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DB534-5D70-4135-AB98-1360CBEAC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12F93-FF35-4F6B-9666-3C9644DF54D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3DE42-693D-4BE8-97A7-BFDA7552C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9B16C-CEB4-46D3-86BE-A36DFBF2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96A19-B0D1-46BB-B985-BF7A0F135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368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7E58-17DB-4EF3-ADDF-2EA0B297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8E762D-50B8-46A5-8727-FC588067A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35214-B1E3-43AB-9785-AB8B89D54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7943F6-FFC4-4A08-89FD-D844CBE5D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12F93-FF35-4F6B-9666-3C9644DF54D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AFFE3-A969-4AD7-946D-3803A3F5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5FA9A-5AD3-45CB-A0D7-CA7EB3B4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96A19-B0D1-46BB-B985-BF7A0F135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26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70337-046D-4F2F-8A9E-7567E648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9DC88-5526-4D3C-9736-63D25FD24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0ABA5-C167-4163-AD08-CCF74D4DE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12F93-FF35-4F6B-9666-3C9644DF54D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BE0CD-09A2-4B38-80A5-90402DAC3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6B51A-FC9F-47A7-B128-59F76C9A9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96A19-B0D1-46BB-B985-BF7A0F135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94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37DB11-9638-49FA-BCE2-F6AD4B8CB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85467-BB4B-4D8C-B568-44B19C6A5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18E31-B65D-4E60-A2ED-052A7137E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12F93-FF35-4F6B-9666-3C9644DF54D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2291E-414A-415C-9ECC-E47006DD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DEA54-306E-4549-86DB-F7AB997DA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96A19-B0D1-46BB-B985-BF7A0F135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79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88DA24-4110-4F96-BF92-7F23F1AE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ADA3B-1A78-4E8E-B87C-D63C54D5D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374EC-E6A1-4440-9D77-51456C623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12F93-FF35-4F6B-9666-3C9644DF54D0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5BC0A-3663-42D0-8F05-6C47DC2D5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7ECA3-C5CC-45D2-A1DD-4CF26873A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96A19-B0D1-46BB-B985-BF7A0F135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84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01F9E-7C9F-4713-BCC6-68532E6211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Amazon Music Clustering Using Machine Learning</a:t>
            </a:r>
            <a:endParaRPr lang="en-IN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3F0E9-013E-4AA3-9B42-D5D2CBB77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810"/>
            <a:ext cx="9144000" cy="1655762"/>
          </a:xfrm>
        </p:spPr>
        <p:txBody>
          <a:bodyPr/>
          <a:lstStyle/>
          <a:p>
            <a:r>
              <a:rPr lang="en-US" dirty="0">
                <a:latin typeface="Khmer UI" panose="020B0502040204020203" pitchFamily="34" charset="0"/>
                <a:cs typeface="Khmer UI" panose="020B0502040204020203" pitchFamily="34" charset="0"/>
              </a:rPr>
              <a:t>Audio Feature-Based Unsupervised Learning Project</a:t>
            </a:r>
            <a:endParaRPr lang="en-IN" dirty="0">
              <a:latin typeface="Khmer UI" panose="020B0502040204020203" pitchFamily="34" charset="0"/>
              <a:cs typeface="Khmer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819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439A-1D8C-4079-A742-46341A094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Problem Statement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54B6F-9EF7-4086-9C90-65A7FC4D1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Clr>
                <a:schemeClr val="bg1"/>
              </a:buClr>
              <a:buSzPct val="150000"/>
            </a:pPr>
            <a:r>
              <a:rPr lang="en-US" sz="4000" dirty="0"/>
              <a:t> </a:t>
            </a:r>
            <a:r>
              <a:rPr lang="en-US" sz="3900" dirty="0"/>
              <a:t>Cluster Amazon music tracks using audio features</a:t>
            </a:r>
          </a:p>
          <a:p>
            <a:pPr marL="0" indent="0">
              <a:buClr>
                <a:schemeClr val="bg1"/>
              </a:buClr>
              <a:buSzPct val="150000"/>
              <a:buNone/>
            </a:pPr>
            <a:endParaRPr lang="en-IN" sz="3900" dirty="0"/>
          </a:p>
          <a:p>
            <a:pPr>
              <a:buClr>
                <a:schemeClr val="bg1"/>
              </a:buClr>
              <a:buSzPct val="150000"/>
            </a:pPr>
            <a:r>
              <a:rPr lang="en-IN" sz="3900" dirty="0"/>
              <a:t> Identify natural groups of songs</a:t>
            </a:r>
          </a:p>
          <a:p>
            <a:pPr>
              <a:buClr>
                <a:schemeClr val="bg1"/>
              </a:buClr>
              <a:buSzPct val="150000"/>
            </a:pPr>
            <a:endParaRPr lang="en-IN" sz="3900" dirty="0"/>
          </a:p>
          <a:p>
            <a:pPr>
              <a:buClr>
                <a:schemeClr val="bg1"/>
              </a:buClr>
              <a:buSzPct val="150000"/>
            </a:pPr>
            <a:r>
              <a:rPr lang="en-IN" sz="3900" dirty="0"/>
              <a:t> Analyze song characteristics for insights</a:t>
            </a:r>
          </a:p>
          <a:p>
            <a:pPr>
              <a:buClr>
                <a:schemeClr val="bg1"/>
              </a:buClr>
              <a:buSzPct val="150000"/>
            </a:pPr>
            <a:endParaRPr lang="en-IN" sz="3900" dirty="0"/>
          </a:p>
          <a:p>
            <a:pPr>
              <a:buClr>
                <a:schemeClr val="bg1"/>
              </a:buClr>
              <a:buSzPct val="150000"/>
            </a:pPr>
            <a:r>
              <a:rPr lang="en-IN" sz="3900" dirty="0"/>
              <a:t> Compare clustering algorithms (K-Means, DBSCAN)</a:t>
            </a:r>
          </a:p>
          <a:p>
            <a:pPr>
              <a:buClr>
                <a:schemeClr val="bg1"/>
              </a:buClr>
              <a:buSzPct val="150000"/>
            </a:pPr>
            <a:endParaRPr lang="en-IN" sz="4000" dirty="0"/>
          </a:p>
          <a:p>
            <a:pPr>
              <a:buClr>
                <a:schemeClr val="bg1"/>
              </a:buClr>
              <a:buSzPct val="150000"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8465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210B-D799-488A-AA16-7743A2B8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Dataset Overview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8F10C-7409-4587-AD13-D0D0982F4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9004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dirty="0"/>
              <a:t>~90,000+ tracks</a:t>
            </a:r>
          </a:p>
          <a:p>
            <a:pPr marL="0" indent="0">
              <a:buClr>
                <a:schemeClr val="bg1"/>
              </a:buClr>
              <a:buNone/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10 audio features used</a:t>
            </a:r>
          </a:p>
          <a:p>
            <a:pPr marL="0" indent="0">
              <a:buClr>
                <a:schemeClr val="bg1"/>
              </a:buClr>
              <a:buNone/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Examples: danceability, energy, loudness, tempo, valence</a:t>
            </a:r>
          </a:p>
          <a:p>
            <a:pPr marL="0" indent="0">
              <a:buClr>
                <a:schemeClr val="bg1"/>
              </a:buClr>
              <a:buNone/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All numeric suitable for ML</a:t>
            </a:r>
          </a:p>
          <a:p>
            <a:pPr marL="0" indent="0">
              <a:buClr>
                <a:schemeClr val="bg1"/>
              </a:buClr>
              <a:buNone/>
            </a:pPr>
            <a:endParaRPr lang="en-US" sz="3600" dirty="0"/>
          </a:p>
          <a:p>
            <a:pPr>
              <a:buClr>
                <a:schemeClr val="bg1"/>
              </a:buClr>
            </a:pPr>
            <a:r>
              <a:rPr lang="en-US" dirty="0"/>
              <a:t>Dataset cleaned &amp; standardized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273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29B99-4E8B-4DDB-AE22-71927AD40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Data Preprocessing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F85E8-6AE2-494E-997F-4D63120A5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/>
              </a:buClr>
            </a:pPr>
            <a:r>
              <a:rPr lang="en-US" dirty="0"/>
              <a:t> Removed text columns (song name, artist)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Checked for missing values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Standardized numeric features using StandardScaler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Applied PCA for visualization (2 components)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77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76D4-8803-4D5C-A2B9-518876AD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        PCA Before Clustering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D2C23D-B5FC-4EAA-941B-01FE21AE2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83" y="1587657"/>
            <a:ext cx="7884886" cy="5026932"/>
          </a:xfrm>
        </p:spPr>
      </p:pic>
    </p:spTree>
    <p:extLst>
      <p:ext uri="{BB962C8B-B14F-4D97-AF65-F5344CB8AC3E}">
        <p14:creationId xmlns:p14="http://schemas.microsoft.com/office/powerpoint/2010/main" val="4245378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6A54-0FCA-4877-A724-D737E8D36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ell MT" panose="02020503060305020303" pitchFamily="18" charset="0"/>
              </a:rPr>
              <a:t>Insights for PCA Before Clustering</a:t>
            </a:r>
            <a:endParaRPr lang="en-IN" sz="48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00DB7-D4DF-4ECC-A091-D2C0ABF21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Clr>
                <a:schemeClr val="bg1"/>
              </a:buClr>
            </a:pPr>
            <a:r>
              <a:rPr lang="en-US" dirty="0"/>
              <a:t> PCA reduces 10 audio features into 2 components for visualization.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Songs from one large dense group – no clear natural clusters yet.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Several points are far away – outliers exist in the dataset.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Data spread shows high variation in audio features (energy, loudness, tempo).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Clustering is needed to uncover hidden structure in the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9840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B2D1-3D11-4CD3-9AC8-E9B2AE9D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               Elbow Method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FED73B-601C-4587-9029-A5185D0BC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776" y="1690689"/>
            <a:ext cx="7122016" cy="4802186"/>
          </a:xfrm>
        </p:spPr>
      </p:pic>
    </p:spTree>
    <p:extLst>
      <p:ext uri="{BB962C8B-B14F-4D97-AF65-F5344CB8AC3E}">
        <p14:creationId xmlns:p14="http://schemas.microsoft.com/office/powerpoint/2010/main" val="138220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5E890-16E8-429C-9DB5-669FE796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Insights For Elbow Method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71D3D-DB72-4BD4-B155-A1EB84C87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SSE drops sharply until K = 3, then levels off.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Indicates 3 clusters is the optimal choice.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Using more than 3 clusters gives minimal improvement.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Elbow method supports selecting K=3 for K-Means.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5249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8F824-CDD4-47BA-A039-6A2EE60E1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             K-Means Clustering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4FE08A-5418-48B5-B1DB-D97DECBB6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473" y="1852449"/>
            <a:ext cx="6954592" cy="4640426"/>
          </a:xfrm>
        </p:spPr>
      </p:pic>
    </p:spTree>
    <p:extLst>
      <p:ext uri="{BB962C8B-B14F-4D97-AF65-F5344CB8AC3E}">
        <p14:creationId xmlns:p14="http://schemas.microsoft.com/office/powerpoint/2010/main" val="177774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4A8D3-40B5-4386-8F74-A70B356C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Insights For K-Means Clustering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3CB1-CEE3-4A69-B01C-E05663AC9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Three clear, well separated clusters appear in PCA space.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Clusters have distinct boundaries with minimal overlap.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K-Means successfully groups similar songs together.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Visualization confirms K=3 is a meaningful structure.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220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2EA-17D6-418F-8A0B-39BFE6357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Interpretation of Clusters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F70DCFC-1CC4-4006-B580-72AA68AD91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7592971"/>
              </p:ext>
            </p:extLst>
          </p:nvPr>
        </p:nvGraphicFramePr>
        <p:xfrm>
          <a:off x="838198" y="1825625"/>
          <a:ext cx="10515600" cy="2604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4269392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374897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59699938"/>
                    </a:ext>
                  </a:extLst>
                </a:gridCol>
              </a:tblGrid>
              <a:tr h="935279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latin typeface="Bell MT" panose="02020503060305020303" pitchFamily="18" charset="0"/>
                        </a:rPr>
                        <a:t>Cluster 0</a:t>
                      </a:r>
                    </a:p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Acoustic/Calm</a:t>
                      </a:r>
                      <a:endParaRPr lang="en-IN" sz="2400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Bell MT" panose="02020503060305020303" pitchFamily="18" charset="0"/>
                          <a:ea typeface="+mn-ea"/>
                          <a:cs typeface="+mn-cs"/>
                        </a:rPr>
                        <a:t>Cluster 1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Bell MT" panose="02020503060305020303" pitchFamily="18" charset="0"/>
                          <a:ea typeface="+mn-ea"/>
                          <a:cs typeface="+mn-cs"/>
                        </a:rPr>
                        <a:t>Pop/Dance</a:t>
                      </a:r>
                      <a:endParaRPr lang="en-IN" sz="2400" b="1" kern="1200" dirty="0">
                        <a:solidFill>
                          <a:schemeClr val="lt1"/>
                        </a:solidFill>
                        <a:latin typeface="Bell MT" panose="020205030603050203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Bell MT" panose="02020503060305020303" pitchFamily="18" charset="0"/>
                          <a:ea typeface="+mn-ea"/>
                          <a:cs typeface="+mn-cs"/>
                        </a:rPr>
                        <a:t>Cluster 2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Bell MT" panose="02020503060305020303" pitchFamily="18" charset="0"/>
                          <a:ea typeface="+mn-ea"/>
                          <a:cs typeface="+mn-cs"/>
                        </a:rPr>
                        <a:t>Rap/Hip-Hop</a:t>
                      </a:r>
                      <a:endParaRPr lang="en-IN" sz="2400" b="1" kern="1200" dirty="0">
                        <a:solidFill>
                          <a:schemeClr val="lt1"/>
                        </a:solidFill>
                        <a:latin typeface="Bell MT" panose="020205030603050203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048815"/>
                  </a:ext>
                </a:extLst>
              </a:tr>
              <a:tr h="44517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High acousticness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energy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high speechiness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038530"/>
                  </a:ext>
                </a:extLst>
              </a:tr>
              <a:tr h="534038">
                <a:tc>
                  <a:txBody>
                    <a:bodyPr/>
                    <a:lstStyle/>
                    <a:p>
                      <a:r>
                        <a:rPr lang="en-US" dirty="0"/>
                        <a:t>Low energy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danceability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Shorter duration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176536"/>
                  </a:ext>
                </a:extLst>
              </a:tr>
              <a:tr h="497736">
                <a:tc>
                  <a:txBody>
                    <a:bodyPr/>
                    <a:lstStyle/>
                    <a:p>
                      <a:r>
                        <a:rPr lang="en-US" dirty="0"/>
                        <a:t>Softer loudness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 valence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livenss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839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294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9BF0-5535-4D45-A382-FEE98372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          Scaled Feature Means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AC3B8D-8367-44A6-B18B-175C83AF8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165" y="1825625"/>
            <a:ext cx="6945669" cy="4351338"/>
          </a:xfrm>
        </p:spPr>
      </p:pic>
    </p:spTree>
    <p:extLst>
      <p:ext uri="{BB962C8B-B14F-4D97-AF65-F5344CB8AC3E}">
        <p14:creationId xmlns:p14="http://schemas.microsoft.com/office/powerpoint/2010/main" val="3474850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D424-14FB-413A-9255-62E0DAE6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ell MT" panose="02020503060305020303" pitchFamily="18" charset="0"/>
              </a:rPr>
              <a:t>Insights For Scaled Feature Means</a:t>
            </a:r>
            <a:endParaRPr lang="en-IN" sz="48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8C0FD-5B9B-439C-B457-C653661E1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buClr>
                <a:schemeClr val="bg1"/>
              </a:buClr>
            </a:pPr>
            <a:r>
              <a:rPr lang="en-US" sz="7000" dirty="0"/>
              <a:t> Cluster 0 – More acoustic, low energy, calm tracks.</a:t>
            </a:r>
          </a:p>
          <a:p>
            <a:pPr>
              <a:buClr>
                <a:schemeClr val="bg1"/>
              </a:buClr>
            </a:pPr>
            <a:endParaRPr lang="en-US" sz="7000" dirty="0"/>
          </a:p>
          <a:p>
            <a:pPr>
              <a:buClr>
                <a:schemeClr val="bg1"/>
              </a:buClr>
            </a:pPr>
            <a:r>
              <a:rPr lang="en-US" sz="7000" dirty="0"/>
              <a:t>Cluster 1 – High energy &amp; danceability; upbeat/pop songs.</a:t>
            </a:r>
          </a:p>
          <a:p>
            <a:pPr>
              <a:buClr>
                <a:schemeClr val="bg1"/>
              </a:buClr>
            </a:pPr>
            <a:endParaRPr lang="en-US" sz="7000" dirty="0"/>
          </a:p>
          <a:p>
            <a:pPr>
              <a:buClr>
                <a:schemeClr val="bg1"/>
              </a:buClr>
            </a:pPr>
            <a:r>
              <a:rPr lang="en-US" sz="7000" dirty="0"/>
              <a:t> Cluster 2 – Very high speechiness; rap/spoken word style music.</a:t>
            </a:r>
          </a:p>
          <a:p>
            <a:pPr>
              <a:buClr>
                <a:schemeClr val="bg1"/>
              </a:buClr>
            </a:pPr>
            <a:endParaRPr lang="en-US" sz="7000" dirty="0"/>
          </a:p>
          <a:p>
            <a:pPr>
              <a:buClr>
                <a:schemeClr val="bg1"/>
              </a:buClr>
            </a:pPr>
            <a:r>
              <a:rPr lang="en-US" sz="7000" dirty="0"/>
              <a:t> Feature differences confirm that K=3 clusters are meaningful.</a:t>
            </a:r>
            <a:r>
              <a:rPr lang="en-US" dirty="0"/>
              <a:t>																																																																		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837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C2FD-42C6-4E7F-B1FF-A9DFDF89F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      Heatmap of Cluster Means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67CE24-4987-4795-A5BC-E34BB9944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690688"/>
            <a:ext cx="8035636" cy="4802187"/>
          </a:xfrm>
        </p:spPr>
      </p:pic>
    </p:spTree>
    <p:extLst>
      <p:ext uri="{BB962C8B-B14F-4D97-AF65-F5344CB8AC3E}">
        <p14:creationId xmlns:p14="http://schemas.microsoft.com/office/powerpoint/2010/main" val="344976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87CA6-9188-499E-8B3C-CD53C044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Insights For Cluster Heatmap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60477-EA07-43CD-98E6-4D0E76C15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chemeClr val="bg1"/>
              </a:buClr>
            </a:pPr>
            <a:r>
              <a:rPr lang="en-US" dirty="0"/>
              <a:t> Heatmap highlights which features define each cluster.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Cluster 1 shows highest energy &amp; tempo – energetic tracks.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Cluster 2 shows highest speechiness – rap/hip-hop patterns.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Cluster 0 has high acousticness – calm/acoustic songs.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Strong feature separation proves clusters are well-formed.</a:t>
            </a:r>
          </a:p>
        </p:txBody>
      </p:sp>
    </p:spTree>
    <p:extLst>
      <p:ext uri="{BB962C8B-B14F-4D97-AF65-F5344CB8AC3E}">
        <p14:creationId xmlns:p14="http://schemas.microsoft.com/office/powerpoint/2010/main" val="4124089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D98B-004B-43A2-BA2A-D8D1BBB2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     DBSCAN PCA Visualization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FDB758-CD5A-4010-9139-9E3BC6728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64" y="1579418"/>
            <a:ext cx="10515599" cy="5015345"/>
          </a:xfrm>
        </p:spPr>
      </p:pic>
    </p:spTree>
    <p:extLst>
      <p:ext uri="{BB962C8B-B14F-4D97-AF65-F5344CB8AC3E}">
        <p14:creationId xmlns:p14="http://schemas.microsoft.com/office/powerpoint/2010/main" val="1375900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C957-9E65-4391-86E0-9C513C11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ell MT" panose="02020503060305020303" pitchFamily="18" charset="0"/>
              </a:rPr>
              <a:t>Insights for DBSCAN PCA Visualization</a:t>
            </a:r>
            <a:endParaRPr lang="en-IN" sz="48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9FE5B-5D5E-41DD-B204-3B00001FC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/>
              </a:buClr>
            </a:pPr>
            <a:r>
              <a:rPr lang="en-US" dirty="0"/>
              <a:t> DBSCAN created many tiny clusters, each with very few songs.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Majority of points are labeled noise, showing poor separation.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Confirms that density-based clustering is not suitable for this dataset.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K-Means performs much better than DBSCAN.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8839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B5D66-02D7-48D9-88AA-75AE0AF7D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            DBSCAN (eps=2.0)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0C9318-0EF9-45C4-9AF2-BDEF38082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473" y="1921029"/>
            <a:ext cx="6497782" cy="4571845"/>
          </a:xfrm>
        </p:spPr>
      </p:pic>
    </p:spTree>
    <p:extLst>
      <p:ext uri="{BB962C8B-B14F-4D97-AF65-F5344CB8AC3E}">
        <p14:creationId xmlns:p14="http://schemas.microsoft.com/office/powerpoint/2010/main" val="3350227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33A7-30FC-4461-B191-70CBE832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Insights For DBSCAN (eps=2.0)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A59F3-27BA-4187-9A70-CC5CB2843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/>
              </a:buClr>
            </a:pPr>
            <a:r>
              <a:rPr lang="en-US" dirty="0"/>
              <a:t> DBSCAN forms one major cluster and several noise points.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Many songs are marked as outliers (-1)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The dataset is too high dimensional for DBSCAN to cluster effectively.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DBSCAN is useful for detecting unusual or rare tracks, not grouping genres.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850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4CA7-877D-4DD2-9B1B-8FB0DCC8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DBSCAN vs K-Means Comparison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8AF4380-AE4E-4F3C-A43F-ACBC6ABA0E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566404"/>
              </p:ext>
            </p:extLst>
          </p:nvPr>
        </p:nvGraphicFramePr>
        <p:xfrm>
          <a:off x="838200" y="1690688"/>
          <a:ext cx="10515600" cy="303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468254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0974398"/>
                    </a:ext>
                  </a:extLst>
                </a:gridCol>
              </a:tblGrid>
              <a:tr h="714649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</a:t>
                      </a:r>
                      <a:r>
                        <a:rPr lang="en-US" sz="3600" b="1" dirty="0">
                          <a:latin typeface="Bell MT" panose="02020503060305020303" pitchFamily="18" charset="0"/>
                        </a:rPr>
                        <a:t>K-Means</a:t>
                      </a:r>
                      <a:endParaRPr lang="en-IN" sz="3600" b="1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kern="1200" dirty="0">
                          <a:solidFill>
                            <a:schemeClr val="lt1"/>
                          </a:solidFill>
                          <a:latin typeface="Bell MT" panose="02020503060305020303" pitchFamily="18" charset="0"/>
                          <a:ea typeface="+mn-ea"/>
                          <a:cs typeface="+mn-cs"/>
                        </a:rPr>
                        <a:t>DBSCAN</a:t>
                      </a:r>
                      <a:endParaRPr lang="en-IN" sz="3600" b="1" kern="1200" dirty="0">
                        <a:solidFill>
                          <a:schemeClr val="lt1"/>
                        </a:solidFill>
                        <a:latin typeface="Bell MT" panose="020205030603050203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924159"/>
                  </a:ext>
                </a:extLst>
              </a:tr>
              <a:tr h="714649">
                <a:tc>
                  <a:txBody>
                    <a:bodyPr/>
                    <a:lstStyle/>
                    <a:p>
                      <a:r>
                        <a:rPr lang="en-US" dirty="0"/>
                        <a:t>Forms clear, well-separated clusters.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Produces many noise points and tiny clusters.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655049"/>
                  </a:ext>
                </a:extLst>
              </a:tr>
              <a:tr h="828559">
                <a:tc>
                  <a:txBody>
                    <a:bodyPr/>
                    <a:lstStyle/>
                    <a:p>
                      <a:r>
                        <a:rPr lang="en-US" dirty="0"/>
                        <a:t>Works well on large, high-dimensional numeric data.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 not handle high-dimensional audio features effectively.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9536"/>
                  </a:ext>
                </a:extLst>
              </a:tr>
              <a:tr h="775855">
                <a:tc>
                  <a:txBody>
                    <a:bodyPr/>
                    <a:lstStyle/>
                    <a:p>
                      <a:r>
                        <a:rPr lang="en-US" dirty="0"/>
                        <a:t>Provides stable cluster assignments.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good for detecting outliers, not meaningful music group.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293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820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A3167-6EBE-40F4-A881-229F6DEA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Comparison Summary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397A6-09FD-4B50-91FC-3847A4211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/>
              </a:buClr>
            </a:pPr>
            <a:r>
              <a:rPr lang="en-US" dirty="0"/>
              <a:t> K-Means = Best overall clustering method for music features.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DBSCAN = Good for outlier detection, not grouping genres.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PCA visualizations clearly show K-Means structure is stronger.</a:t>
            </a:r>
          </a:p>
          <a:p>
            <a:pPr marL="0" indent="0">
              <a:buClr>
                <a:schemeClr val="bg1"/>
              </a:buCl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4671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DBEBD-9BC3-42C5-BAA6-2293022E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Project Summary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A52DA-71BD-412F-AF53-97DA3593D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/>
              </a:buClr>
            </a:pPr>
            <a:r>
              <a:rPr lang="en-US" dirty="0"/>
              <a:t> Applied PCA and clustering on Amazon Music audio features.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Identified </a:t>
            </a:r>
            <a:r>
              <a:rPr lang="en-IN" dirty="0"/>
              <a:t>3 meaningful clusters representing different musical styles.</a:t>
            </a:r>
          </a:p>
          <a:p>
            <a:pPr>
              <a:buClr>
                <a:schemeClr val="bg1"/>
              </a:buClr>
            </a:pPr>
            <a:endParaRPr lang="en-IN" dirty="0"/>
          </a:p>
          <a:p>
            <a:pPr>
              <a:buClr>
                <a:schemeClr val="bg1"/>
              </a:buClr>
            </a:pPr>
            <a:r>
              <a:rPr lang="en-IN" dirty="0"/>
              <a:t> K-Means produced clear and interpretable groups.</a:t>
            </a:r>
          </a:p>
          <a:p>
            <a:pPr>
              <a:buClr>
                <a:schemeClr val="bg1"/>
              </a:buClr>
            </a:pPr>
            <a:endParaRPr lang="en-IN" dirty="0"/>
          </a:p>
          <a:p>
            <a:pPr>
              <a:buClr>
                <a:schemeClr val="bg1"/>
              </a:buClr>
            </a:pPr>
            <a:r>
              <a:rPr lang="en-IN" dirty="0"/>
              <a:t> DBSCAN mainly identified outliers tracks, not strong clusters.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325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179A-56C0-4DF2-B7BD-DBBF0CAB6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ell MT" panose="02020503060305020303" pitchFamily="18" charset="0"/>
              </a:rPr>
              <a:t>Key Findings</a:t>
            </a:r>
            <a:endParaRPr lang="en-IN" sz="54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9E49D-CB88-409D-B9F9-18079C767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/>
              </a:buClr>
            </a:pPr>
            <a:r>
              <a:rPr lang="en-US" dirty="0"/>
              <a:t> Clusters differ strongly in energy, acousticness, speechiness, tempo, etc.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Feature analysis confirms distinct music categories.</a:t>
            </a:r>
          </a:p>
          <a:p>
            <a:pPr>
              <a:buClr>
                <a:schemeClr val="bg1"/>
              </a:buClr>
            </a:pPr>
            <a:endParaRPr lang="en-US" dirty="0"/>
          </a:p>
          <a:p>
            <a:pPr>
              <a:buClr>
                <a:schemeClr val="bg1"/>
              </a:buClr>
            </a:pPr>
            <a:r>
              <a:rPr lang="en-US" dirty="0"/>
              <a:t> K-Means is the most effective algorithm for this dataset.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778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795</Words>
  <Application>Microsoft Office PowerPoint</Application>
  <PresentationFormat>Widescreen</PresentationFormat>
  <Paragraphs>140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Bell MT</vt:lpstr>
      <vt:lpstr>Calibri</vt:lpstr>
      <vt:lpstr>Calibri Light</vt:lpstr>
      <vt:lpstr>Khmer UI</vt:lpstr>
      <vt:lpstr>Office Theme</vt:lpstr>
      <vt:lpstr>Amazon Music Clustering Using Machine Learning</vt:lpstr>
      <vt:lpstr>Problem Statement</vt:lpstr>
      <vt:lpstr>Dataset Overview</vt:lpstr>
      <vt:lpstr>Data Preprocessing</vt:lpstr>
      <vt:lpstr>        PCA Before Clustering</vt:lpstr>
      <vt:lpstr>Insights for PCA Before Clustering</vt:lpstr>
      <vt:lpstr>               Elbow Method</vt:lpstr>
      <vt:lpstr>Insights For Elbow Method</vt:lpstr>
      <vt:lpstr>             K-Means Clustering</vt:lpstr>
      <vt:lpstr>Insights For K-Means Clustering</vt:lpstr>
      <vt:lpstr>Interpretation of Clusters</vt:lpstr>
      <vt:lpstr>          Scaled Feature Means</vt:lpstr>
      <vt:lpstr>Insights For Scaled Feature Means</vt:lpstr>
      <vt:lpstr>      Heatmap of Cluster Means</vt:lpstr>
      <vt:lpstr>Insights For Cluster Heatmap</vt:lpstr>
      <vt:lpstr>     DBSCAN PCA Visualization</vt:lpstr>
      <vt:lpstr>Insights for DBSCAN PCA Visualization</vt:lpstr>
      <vt:lpstr>            DBSCAN (eps=2.0)</vt:lpstr>
      <vt:lpstr>Insights For DBSCAN (eps=2.0)</vt:lpstr>
      <vt:lpstr>DBSCAN vs K-Means Comparison</vt:lpstr>
      <vt:lpstr>Comparison Summary</vt:lpstr>
      <vt:lpstr>Project Summary</vt:lpstr>
      <vt:lpstr>Key Findings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Music Clustering Using Machine Learning</dc:title>
  <dc:creator>Brighton</dc:creator>
  <cp:lastModifiedBy>Brighton</cp:lastModifiedBy>
  <cp:revision>17</cp:revision>
  <dcterms:created xsi:type="dcterms:W3CDTF">2025-12-05T15:16:18Z</dcterms:created>
  <dcterms:modified xsi:type="dcterms:W3CDTF">2025-12-07T11:40:10Z</dcterms:modified>
</cp:coreProperties>
</file>